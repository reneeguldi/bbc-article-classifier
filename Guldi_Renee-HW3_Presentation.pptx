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Chakra Petch Medium"/>
      <p:regular r:id="rId21"/>
      <p:bold r:id="rId22"/>
      <p:italic r:id="rId23"/>
      <p:boldItalic r:id="rId24"/>
    </p:embeddedFont>
    <p:embeddedFont>
      <p:font typeface="Teko"/>
      <p:regular r:id="rId25"/>
      <p:bold r:id="rId26"/>
    </p:embeddedFont>
    <p:embeddedFont>
      <p:font typeface="Proxima Nova"/>
      <p:regular r:id="rId27"/>
      <p:bold r:id="rId28"/>
      <p:italic r:id="rId29"/>
      <p:boldItalic r:id="rId30"/>
    </p:embeddedFont>
    <p:embeddedFont>
      <p:font typeface="Proxima Nova Semibold"/>
      <p:regular r:id="rId31"/>
      <p:bold r:id="rId32"/>
      <p:boldItalic r:id="rId33"/>
    </p:embeddedFont>
    <p:embeddedFont>
      <p:font typeface="Chakra Petch SemiBold"/>
      <p:regular r:id="rId34"/>
      <p:bold r:id="rId35"/>
      <p:italic r:id="rId36"/>
      <p:boldItalic r:id="rId37"/>
    </p:embeddedFont>
    <p:embeddedFont>
      <p:font typeface="Chakra Petch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hakraPetch-italic.fntdata"/><Relationship Id="rId20" Type="http://schemas.openxmlformats.org/officeDocument/2006/relationships/slide" Target="slides/slide15.xml"/><Relationship Id="rId41" Type="http://schemas.openxmlformats.org/officeDocument/2006/relationships/font" Target="fonts/ChakraPetch-boldItalic.fntdata"/><Relationship Id="rId22" Type="http://schemas.openxmlformats.org/officeDocument/2006/relationships/font" Target="fonts/ChakraPetchMedium-bold.fntdata"/><Relationship Id="rId21" Type="http://schemas.openxmlformats.org/officeDocument/2006/relationships/font" Target="fonts/ChakraPetchMedium-regular.fntdata"/><Relationship Id="rId24" Type="http://schemas.openxmlformats.org/officeDocument/2006/relationships/font" Target="fonts/ChakraPetchMedium-boldItalic.fntdata"/><Relationship Id="rId23" Type="http://schemas.openxmlformats.org/officeDocument/2006/relationships/font" Target="fonts/ChakraPetch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Teko-bold.fntdata"/><Relationship Id="rId25" Type="http://schemas.openxmlformats.org/officeDocument/2006/relationships/font" Target="fonts/Teko-regular.fntdata"/><Relationship Id="rId28" Type="http://schemas.openxmlformats.org/officeDocument/2006/relationships/font" Target="fonts/ProximaNova-bold.fntdata"/><Relationship Id="rId27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Semibold-regular.fntdata"/><Relationship Id="rId30" Type="http://schemas.openxmlformats.org/officeDocument/2006/relationships/font" Target="fonts/ProximaNova-boldItalic.fntdata"/><Relationship Id="rId11" Type="http://schemas.openxmlformats.org/officeDocument/2006/relationships/slide" Target="slides/slide6.xml"/><Relationship Id="rId33" Type="http://schemas.openxmlformats.org/officeDocument/2006/relationships/font" Target="fonts/ProximaNova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ProximaNovaSemibold-bold.fntdata"/><Relationship Id="rId13" Type="http://schemas.openxmlformats.org/officeDocument/2006/relationships/slide" Target="slides/slide8.xml"/><Relationship Id="rId35" Type="http://schemas.openxmlformats.org/officeDocument/2006/relationships/font" Target="fonts/ChakraPetchSemiBold-bold.fntdata"/><Relationship Id="rId12" Type="http://schemas.openxmlformats.org/officeDocument/2006/relationships/slide" Target="slides/slide7.xml"/><Relationship Id="rId34" Type="http://schemas.openxmlformats.org/officeDocument/2006/relationships/font" Target="fonts/ChakraPetchSemiBold-regular.fntdata"/><Relationship Id="rId15" Type="http://schemas.openxmlformats.org/officeDocument/2006/relationships/slide" Target="slides/slide10.xml"/><Relationship Id="rId37" Type="http://schemas.openxmlformats.org/officeDocument/2006/relationships/font" Target="fonts/ChakraPetchSemiBold-boldItalic.fntdata"/><Relationship Id="rId14" Type="http://schemas.openxmlformats.org/officeDocument/2006/relationships/slide" Target="slides/slide9.xml"/><Relationship Id="rId36" Type="http://schemas.openxmlformats.org/officeDocument/2006/relationships/font" Target="fonts/ChakraPetchSemiBold-italic.fntdata"/><Relationship Id="rId17" Type="http://schemas.openxmlformats.org/officeDocument/2006/relationships/slide" Target="slides/slide12.xml"/><Relationship Id="rId39" Type="http://schemas.openxmlformats.org/officeDocument/2006/relationships/font" Target="fonts/ChakraPetch-bold.fntdata"/><Relationship Id="rId16" Type="http://schemas.openxmlformats.org/officeDocument/2006/relationships/slide" Target="slides/slide11.xml"/><Relationship Id="rId38" Type="http://schemas.openxmlformats.org/officeDocument/2006/relationships/font" Target="fonts/ChakraPetch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5bfc59c9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c5bfc59c9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5bfc59c96_0_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c5bfc59c96_0_2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c5bfc59c96_0_2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5bfc59c96_0_2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c5bfc59c96_0_2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c5bfc59c96_0_2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5bfc59c96_0_2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c5bfc59c96_0_2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c5bfc59c96_0_2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5bfc59c96_0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c5bfc59c96_0_2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c5bfc59c96_0_2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5bfc59c96_0_3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c5bfc59c96_0_3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c5bfc59c96_0_3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5bfc59c96_0_2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c5bfc59c96_0_2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c5bfc59c96_0_2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32ca5b846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d32ca5b846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d32ca5b846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5bfc59c96_0_3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c5bfc59c96_0_3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c5bfc59c96_0_3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32ca5b846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d32ca5b846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d32ca5b846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32ca5b846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d32ca5b846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d32ca5b846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32ca5b846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d32ca5b846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d32ca5b846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5bfc59c96_0_3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c5bfc59c96_0_3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c5bfc59c96_0_3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32ca5b846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d32ca5b846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d32ca5b846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3718701de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d3718701de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d3718701de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CAPTION_ONLY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3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akra Petch SemiBold"/>
              <a:buNone/>
              <a:defRPr sz="28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akra Petch"/>
              <a:buNone/>
              <a:defRPr sz="28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akra Petch"/>
              <a:buNone/>
              <a:defRPr sz="28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akra Petch"/>
              <a:buNone/>
              <a:defRPr sz="28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akra Petch"/>
              <a:buNone/>
              <a:defRPr sz="28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akra Petch"/>
              <a:buNone/>
              <a:defRPr sz="28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akra Petch"/>
              <a:buNone/>
              <a:defRPr sz="28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akra Petch"/>
              <a:buNone/>
              <a:defRPr sz="28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akra Petch"/>
              <a:buNone/>
              <a:defRPr sz="28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hakra Petch Medium"/>
              <a:buChar char="●"/>
              <a:defRPr sz="1800">
                <a:solidFill>
                  <a:schemeClr val="dk2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akra Petch Medium"/>
              <a:buChar char="○"/>
              <a:defRPr>
                <a:solidFill>
                  <a:schemeClr val="dk2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akra Petch Medium"/>
              <a:buChar char="■"/>
              <a:defRPr>
                <a:solidFill>
                  <a:schemeClr val="dk2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akra Petch Medium"/>
              <a:buChar char="●"/>
              <a:defRPr>
                <a:solidFill>
                  <a:schemeClr val="dk2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akra Petch Medium"/>
              <a:buChar char="○"/>
              <a:defRPr>
                <a:solidFill>
                  <a:schemeClr val="dk2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akra Petch Medium"/>
              <a:buChar char="■"/>
              <a:defRPr>
                <a:solidFill>
                  <a:schemeClr val="dk2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akra Petch Medium"/>
              <a:buChar char="●"/>
              <a:defRPr>
                <a:solidFill>
                  <a:schemeClr val="dk2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akra Petch Medium"/>
              <a:buChar char="○"/>
              <a:defRPr>
                <a:solidFill>
                  <a:schemeClr val="dk2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akra Petch Medium"/>
              <a:buChar char="■"/>
              <a:defRPr>
                <a:solidFill>
                  <a:schemeClr val="dk2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4.jp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Relationship Id="rId4" Type="http://schemas.openxmlformats.org/officeDocument/2006/relationships/hyperlink" Target="https://colab.research.google.com/drive/1Pcl2s4Tf5XgbW0BC3vO85SOWqxUd517R#scrollTo=kFGEVUF9ZBWC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sentation tagline" id="56" name="Google Shape;56;p15"/>
          <p:cNvSpPr txBox="1"/>
          <p:nvPr/>
        </p:nvSpPr>
        <p:spPr>
          <a:xfrm>
            <a:off x="293525" y="2456151"/>
            <a:ext cx="2679000" cy="13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91919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CSCI 460 - Dr. Chang</a:t>
            </a:r>
            <a:endParaRPr sz="1600">
              <a:solidFill>
                <a:srgbClr val="191919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91919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April 1, 2026</a:t>
            </a:r>
            <a:endParaRPr sz="1600">
              <a:solidFill>
                <a:srgbClr val="191919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91919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By Renee Guldi</a:t>
            </a:r>
            <a:endParaRPr sz="1600">
              <a:solidFill>
                <a:srgbClr val="191919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</p:txBody>
      </p:sp>
      <p:pic>
        <p:nvPicPr>
          <p:cNvPr id="57" name="Google Shape;57;p15" title="new-bbc-logo.jp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-2650" r="-5494" t="0"/>
          <a:stretch/>
        </p:blipFill>
        <p:spPr>
          <a:xfrm>
            <a:off x="3089169" y="-2"/>
            <a:ext cx="7799100" cy="51435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pic>
      <p:pic>
        <p:nvPicPr>
          <p:cNvPr descr="University of Indianapolis logo" id="58" name="Google Shape;5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525" y="4744249"/>
            <a:ext cx="2869000" cy="13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und logo" id="59" name="Google Shape;5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4335" y="4788430"/>
            <a:ext cx="860314" cy="33389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/>
          <p:nvPr/>
        </p:nvSpPr>
        <p:spPr>
          <a:xfrm>
            <a:off x="228025" y="501900"/>
            <a:ext cx="37590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191919"/>
                </a:solidFill>
                <a:latin typeface="Teko"/>
                <a:ea typeface="Teko"/>
                <a:cs typeface="Teko"/>
                <a:sym typeface="Teko"/>
              </a:rPr>
              <a:t>BBC Article Classification Using Neural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title" id="66" name="Google Shape;66;p16"/>
          <p:cNvSpPr txBox="1"/>
          <p:nvPr/>
        </p:nvSpPr>
        <p:spPr>
          <a:xfrm>
            <a:off x="136725" y="520350"/>
            <a:ext cx="350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rPr>
              <a:t>Project Overview:</a:t>
            </a:r>
            <a:endParaRPr sz="42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cxnSp>
        <p:nvCxnSpPr>
          <p:cNvPr id="67" name="Google Shape;67;p16"/>
          <p:cNvCxnSpPr/>
          <p:nvPr/>
        </p:nvCxnSpPr>
        <p:spPr>
          <a:xfrm>
            <a:off x="-16700" y="1259250"/>
            <a:ext cx="3274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descr="Slide description" id="68" name="Google Shape;68;p16"/>
          <p:cNvSpPr txBox="1"/>
          <p:nvPr/>
        </p:nvSpPr>
        <p:spPr>
          <a:xfrm>
            <a:off x="99025" y="1191675"/>
            <a:ext cx="38001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Q1. – Built a 3-layer Neural Network classifier with fixed weights</a:t>
            </a:r>
            <a:endParaRPr sz="17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Q2. – Classified BBC articles using Doc2Vec and an FNN</a:t>
            </a:r>
            <a:endParaRPr sz="17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Q2 Bonus. – Implemented TF-IDF (Term Frequency-Inverse Document Frequency) from scratch using NumPy</a:t>
            </a:r>
            <a:endParaRPr sz="17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Dataset: 2,225 BBC articles across 5 categories</a:t>
            </a:r>
            <a:endParaRPr sz="17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descr="Hound logo" id="69" name="Google Shape;6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1935" y="4636030"/>
            <a:ext cx="860314" cy="33389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/>
          <p:nvPr/>
        </p:nvSpPr>
        <p:spPr>
          <a:xfrm>
            <a:off x="8061158" y="5137445"/>
            <a:ext cx="1082841" cy="6055"/>
          </a:xfrm>
          <a:custGeom>
            <a:rect b="b" l="l" r="r" t="t"/>
            <a:pathLst>
              <a:path extrusionOk="0" h="8073" w="1443788">
                <a:moveTo>
                  <a:pt x="0" y="0"/>
                </a:moveTo>
                <a:lnTo>
                  <a:pt x="1443788" y="0"/>
                </a:lnTo>
                <a:lnTo>
                  <a:pt x="1443788" y="8073"/>
                </a:lnTo>
                <a:lnTo>
                  <a:pt x="0" y="80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iversity of Indianapolis logo" id="71" name="Google Shape;7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763" y="4727137"/>
            <a:ext cx="3234174" cy="15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 title="ChatGPT Image Mar 28, 2026, 01_25_32 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98976" y="443900"/>
            <a:ext cx="5245025" cy="349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title" id="78" name="Google Shape;78;p17"/>
          <p:cNvSpPr txBox="1"/>
          <p:nvPr/>
        </p:nvSpPr>
        <p:spPr>
          <a:xfrm>
            <a:off x="177450" y="383250"/>
            <a:ext cx="4784700" cy="8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rPr>
              <a:t>Neural Network Structure:</a:t>
            </a:r>
            <a:endParaRPr sz="42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cxnSp>
        <p:nvCxnSpPr>
          <p:cNvPr id="79" name="Google Shape;79;p17"/>
          <p:cNvCxnSpPr/>
          <p:nvPr/>
        </p:nvCxnSpPr>
        <p:spPr>
          <a:xfrm>
            <a:off x="-16700" y="1259250"/>
            <a:ext cx="29256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descr="Subtitle" id="80" name="Google Shape;80;p17"/>
          <p:cNvSpPr txBox="1"/>
          <p:nvPr/>
        </p:nvSpPr>
        <p:spPr>
          <a:xfrm>
            <a:off x="108325" y="1315175"/>
            <a:ext cx="6402000" cy="8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Three Layer Network:   Input → Hidden → Output</a:t>
            </a:r>
            <a:endParaRPr sz="2100">
              <a:solidFill>
                <a:schemeClr val="lt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descr="Text to the right of first number" id="81" name="Google Shape;81;p17"/>
          <p:cNvSpPr txBox="1"/>
          <p:nvPr/>
        </p:nvSpPr>
        <p:spPr>
          <a:xfrm>
            <a:off x="291775" y="1879575"/>
            <a:ext cx="72432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rPr>
              <a:t>Fixed weights: 	weight1 = [1, -3]</a:t>
            </a:r>
            <a:endParaRPr b="1" sz="1800">
              <a:solidFill>
                <a:schemeClr val="lt1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rPr>
              <a:t>				weight2 = [-10, 1]</a:t>
            </a:r>
            <a:endParaRPr b="1" sz="1800">
              <a:solidFill>
                <a:schemeClr val="lt1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rPr>
              <a:t>Sigmoid activation applied at outer layer</a:t>
            </a:r>
            <a:endParaRPr b="1" sz="1800">
              <a:solidFill>
                <a:schemeClr val="lt1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rPr>
              <a:t>Decision boundary set at Y = 0.5</a:t>
            </a:r>
            <a:endParaRPr b="1" sz="1800">
              <a:solidFill>
                <a:schemeClr val="lt1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rPr>
              <a:t>Input grid: 1,600 points (a 40x40 grid, X1 and X2 from -5 to 5</a:t>
            </a:r>
            <a:endParaRPr b="1" sz="1800">
              <a:solidFill>
                <a:schemeClr val="lt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pic>
        <p:nvPicPr>
          <p:cNvPr descr="University of Indianapolis logo"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763" y="4727137"/>
            <a:ext cx="3234174" cy="15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und logo" id="83" name="Google Shape;8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91935" y="4636030"/>
            <a:ext cx="860314" cy="33389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8061158" y="5137445"/>
            <a:ext cx="1082841" cy="6055"/>
          </a:xfrm>
          <a:custGeom>
            <a:rect b="b" l="l" r="r" t="t"/>
            <a:pathLst>
              <a:path extrusionOk="0" h="8073" w="1443788">
                <a:moveTo>
                  <a:pt x="0" y="0"/>
                </a:moveTo>
                <a:lnTo>
                  <a:pt x="1443788" y="0"/>
                </a:lnTo>
                <a:lnTo>
                  <a:pt x="1443788" y="8073"/>
                </a:lnTo>
                <a:lnTo>
                  <a:pt x="0" y="80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title" id="90" name="Google Shape;90;p18"/>
          <p:cNvSpPr txBox="1"/>
          <p:nvPr/>
        </p:nvSpPr>
        <p:spPr>
          <a:xfrm>
            <a:off x="642963" y="56425"/>
            <a:ext cx="2357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rPr>
              <a:t>3D Plots</a:t>
            </a:r>
            <a:endParaRPr sz="42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cxnSp>
        <p:nvCxnSpPr>
          <p:cNvPr id="91" name="Google Shape;91;p18"/>
          <p:cNvCxnSpPr/>
          <p:nvPr/>
        </p:nvCxnSpPr>
        <p:spPr>
          <a:xfrm>
            <a:off x="59750" y="678675"/>
            <a:ext cx="29256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University of Indianapolis logo"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763" y="4727137"/>
            <a:ext cx="3234174" cy="15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und logo" id="93" name="Google Shape;9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91935" y="4636030"/>
            <a:ext cx="860314" cy="33389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8061158" y="5137445"/>
            <a:ext cx="1082841" cy="6055"/>
          </a:xfrm>
          <a:custGeom>
            <a:rect b="b" l="l" r="r" t="t"/>
            <a:pathLst>
              <a:path extrusionOk="0" h="8073" w="1443788">
                <a:moveTo>
                  <a:pt x="0" y="0"/>
                </a:moveTo>
                <a:lnTo>
                  <a:pt x="1443788" y="0"/>
                </a:lnTo>
                <a:lnTo>
                  <a:pt x="1443788" y="8073"/>
                </a:lnTo>
                <a:lnTo>
                  <a:pt x="0" y="80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8" title="3d nn with sigmoi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925" y="756550"/>
            <a:ext cx="3838654" cy="389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 title="3d nn no sigmoid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17299" y="752924"/>
            <a:ext cx="3861298" cy="389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Google Shape;102;p19"/>
          <p:cNvCxnSpPr/>
          <p:nvPr/>
        </p:nvCxnSpPr>
        <p:spPr>
          <a:xfrm>
            <a:off x="-16700" y="1259250"/>
            <a:ext cx="3274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descr="Slide description" id="103" name="Google Shape;103;p19"/>
          <p:cNvSpPr txBox="1"/>
          <p:nvPr/>
        </p:nvSpPr>
        <p:spPr>
          <a:xfrm>
            <a:off x="229175" y="1509475"/>
            <a:ext cx="30282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Q1 – Sigmoid vs. Linear</a:t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descr="Hound logo" id="104" name="Google Shape;10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1935" y="4636030"/>
            <a:ext cx="860314" cy="33389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/>
          <p:nvPr/>
        </p:nvSpPr>
        <p:spPr>
          <a:xfrm>
            <a:off x="8061158" y="5137445"/>
            <a:ext cx="1082841" cy="6055"/>
          </a:xfrm>
          <a:custGeom>
            <a:rect b="b" l="l" r="r" t="t"/>
            <a:pathLst>
              <a:path extrusionOk="0" h="8073" w="1443788">
                <a:moveTo>
                  <a:pt x="0" y="0"/>
                </a:moveTo>
                <a:lnTo>
                  <a:pt x="1443788" y="0"/>
                </a:lnTo>
                <a:lnTo>
                  <a:pt x="1443788" y="8073"/>
                </a:lnTo>
                <a:lnTo>
                  <a:pt x="0" y="80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iversity of Indianapolis logo" id="106" name="Google Shape;10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763" y="4727137"/>
            <a:ext cx="3234174" cy="151675"/>
          </a:xfrm>
          <a:prstGeom prst="rect">
            <a:avLst/>
          </a:prstGeom>
          <a:noFill/>
          <a:ln>
            <a:noFill/>
          </a:ln>
        </p:spPr>
      </p:pic>
      <p:sp>
        <p:nvSpPr>
          <p:cNvPr descr="Slide title" id="107" name="Google Shape;107;p19"/>
          <p:cNvSpPr txBox="1"/>
          <p:nvPr/>
        </p:nvSpPr>
        <p:spPr>
          <a:xfrm>
            <a:off x="745350" y="520350"/>
            <a:ext cx="289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rPr>
              <a:t>Key Findings:</a:t>
            </a:r>
            <a:endParaRPr sz="42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descr="Slide description" id="108" name="Google Shape;108;p19"/>
          <p:cNvSpPr txBox="1"/>
          <p:nvPr/>
        </p:nvSpPr>
        <p:spPr>
          <a:xfrm>
            <a:off x="745350" y="1974976"/>
            <a:ext cx="3485100" cy="19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Sigmoid → Figure One</a:t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 Semibold"/>
              <a:buChar char="-"/>
            </a:pPr>
            <a:r>
              <a:rPr lang="en" sz="18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Output: 0 to 1</a:t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 Semibold"/>
              <a:buChar char="-"/>
            </a:pPr>
            <a:r>
              <a:rPr lang="en" sz="18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Curved decision boundary</a:t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 Semibold"/>
              <a:buChar char="-"/>
            </a:pPr>
            <a:r>
              <a:rPr lang="en" sz="18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Non-linear classification</a:t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 Semibold"/>
              <a:buChar char="-"/>
            </a:pPr>
            <a:r>
              <a:rPr lang="en" sz="18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Clear classes visible</a:t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descr="Slide description" id="109" name="Google Shape;109;p19"/>
          <p:cNvSpPr txBox="1"/>
          <p:nvPr/>
        </p:nvSpPr>
        <p:spPr>
          <a:xfrm>
            <a:off x="4506825" y="1978975"/>
            <a:ext cx="4018500" cy="19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Linear → Figure Two</a:t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 Semibold"/>
              <a:buChar char="-"/>
            </a:pPr>
            <a:r>
              <a:rPr lang="en" sz="18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Output: unbounded (-200 to 150)</a:t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 Semibold"/>
              <a:buChar char="-"/>
            </a:pPr>
            <a:r>
              <a:rPr lang="en" sz="18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Flat tilted plane</a:t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 Semibold"/>
              <a:buChar char="-"/>
            </a:pPr>
            <a:r>
              <a:rPr lang="en" sz="18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Linear classification only</a:t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 Semibold"/>
              <a:buChar char="-"/>
            </a:pPr>
            <a:r>
              <a:rPr lang="en" sz="18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Less flexible boundary</a:t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title" id="115" name="Google Shape;115;p20"/>
          <p:cNvSpPr txBox="1"/>
          <p:nvPr/>
        </p:nvSpPr>
        <p:spPr>
          <a:xfrm>
            <a:off x="73525" y="558550"/>
            <a:ext cx="34524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rPr>
              <a:t>Q2 – Why Doc2Vec?</a:t>
            </a:r>
            <a:endParaRPr sz="42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cxnSp>
        <p:nvCxnSpPr>
          <p:cNvPr id="116" name="Google Shape;116;p20"/>
          <p:cNvCxnSpPr/>
          <p:nvPr/>
        </p:nvCxnSpPr>
        <p:spPr>
          <a:xfrm>
            <a:off x="-16700" y="1259250"/>
            <a:ext cx="3274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Hound logo" id="117" name="Google Shape;1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1935" y="4636030"/>
            <a:ext cx="860314" cy="33389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/>
          <p:nvPr/>
        </p:nvSpPr>
        <p:spPr>
          <a:xfrm>
            <a:off x="8061158" y="5137445"/>
            <a:ext cx="1082841" cy="6055"/>
          </a:xfrm>
          <a:custGeom>
            <a:rect b="b" l="l" r="r" t="t"/>
            <a:pathLst>
              <a:path extrusionOk="0" h="8073" w="1443788">
                <a:moveTo>
                  <a:pt x="0" y="0"/>
                </a:moveTo>
                <a:lnTo>
                  <a:pt x="1443788" y="0"/>
                </a:lnTo>
                <a:lnTo>
                  <a:pt x="1443788" y="8073"/>
                </a:lnTo>
                <a:lnTo>
                  <a:pt x="0" y="80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iversity of Indianapolis logo" id="119" name="Google Shape;11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763" y="4727137"/>
            <a:ext cx="3234174" cy="151675"/>
          </a:xfrm>
          <a:prstGeom prst="rect">
            <a:avLst/>
          </a:prstGeom>
          <a:noFill/>
          <a:ln>
            <a:noFill/>
          </a:ln>
        </p:spPr>
      </p:pic>
      <p:sp>
        <p:nvSpPr>
          <p:cNvPr descr="Slide description" id="120" name="Google Shape;120;p20"/>
          <p:cNvSpPr txBox="1"/>
          <p:nvPr/>
        </p:nvSpPr>
        <p:spPr>
          <a:xfrm>
            <a:off x="166300" y="1772250"/>
            <a:ext cx="8813700" cy="28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The Problem:</a:t>
            </a:r>
            <a:endParaRPr sz="17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roxima Nova Semibold"/>
              <a:buChar char="-"/>
            </a:pPr>
            <a:r>
              <a:rPr lang="en" sz="17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Neural Networks only understand numbers, not words</a:t>
            </a:r>
            <a:endParaRPr sz="17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roxima Nova Semibold"/>
              <a:buChar char="-"/>
            </a:pPr>
            <a:r>
              <a:rPr lang="en" sz="17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You are not able to multiply a strong by a weight in nn.Linear</a:t>
            </a:r>
            <a:endParaRPr sz="17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roxima Nova Semibold"/>
              <a:buChar char="-"/>
            </a:pPr>
            <a:r>
              <a:rPr lang="en" sz="17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Raw text like “sport” or “politics” means nothing to a network</a:t>
            </a:r>
            <a:endParaRPr sz="17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Solution:</a:t>
            </a:r>
            <a:endParaRPr sz="17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roxima Nova Semibold"/>
              <a:buChar char="-"/>
            </a:pPr>
            <a:r>
              <a:rPr lang="en" sz="17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Doc2Vec converts each article into a fixed-size vector of numbers</a:t>
            </a:r>
            <a:endParaRPr sz="17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roxima Nova Semibold"/>
              <a:buChar char="-"/>
            </a:pPr>
            <a:r>
              <a:rPr lang="en" sz="17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It assigns similar articles to similar vectors</a:t>
            </a:r>
            <a:endParaRPr sz="17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roxima Nova Semibold"/>
              <a:buChar char="-"/>
            </a:pPr>
            <a:r>
              <a:rPr lang="en" sz="17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Unlike simple word counting, Doc2Vec is able to understand context</a:t>
            </a:r>
            <a:endParaRPr sz="17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roxima Nova Semibold"/>
              <a:buChar char="-"/>
            </a:pPr>
            <a:r>
              <a:rPr lang="en" sz="17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Each of our 2,225 articles become a 250-dimensional number vector</a:t>
            </a:r>
            <a:endParaRPr sz="17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121" name="Google Shape;121;p20" title="Screenshot 2026-03-30 at 1.09.22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6450" y="45653"/>
            <a:ext cx="3886725" cy="209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title" id="127" name="Google Shape;127;p21"/>
          <p:cNvSpPr txBox="1"/>
          <p:nvPr/>
        </p:nvSpPr>
        <p:spPr>
          <a:xfrm>
            <a:off x="188850" y="257175"/>
            <a:ext cx="28965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rPr>
              <a:t>Q2 Pipeline:</a:t>
            </a:r>
            <a:endParaRPr sz="42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cxnSp>
        <p:nvCxnSpPr>
          <p:cNvPr id="128" name="Google Shape;128;p21"/>
          <p:cNvCxnSpPr/>
          <p:nvPr/>
        </p:nvCxnSpPr>
        <p:spPr>
          <a:xfrm>
            <a:off x="0" y="797125"/>
            <a:ext cx="3274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Hound logo" id="129" name="Google Shape;1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1935" y="4636030"/>
            <a:ext cx="860314" cy="33389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/>
          <p:nvPr/>
        </p:nvSpPr>
        <p:spPr>
          <a:xfrm>
            <a:off x="8061158" y="5137445"/>
            <a:ext cx="1082841" cy="6055"/>
          </a:xfrm>
          <a:custGeom>
            <a:rect b="b" l="l" r="r" t="t"/>
            <a:pathLst>
              <a:path extrusionOk="0" h="8073" w="1443788">
                <a:moveTo>
                  <a:pt x="0" y="0"/>
                </a:moveTo>
                <a:lnTo>
                  <a:pt x="1443788" y="0"/>
                </a:lnTo>
                <a:lnTo>
                  <a:pt x="1443788" y="8073"/>
                </a:lnTo>
                <a:lnTo>
                  <a:pt x="0" y="80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iversity of Indianapolis logo" id="131" name="Google Shape;13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763" y="4727137"/>
            <a:ext cx="3234174" cy="151675"/>
          </a:xfrm>
          <a:prstGeom prst="rect">
            <a:avLst/>
          </a:prstGeom>
          <a:noFill/>
          <a:ln>
            <a:noFill/>
          </a:ln>
        </p:spPr>
      </p:pic>
      <p:sp>
        <p:nvSpPr>
          <p:cNvPr descr="Slide description" id="132" name="Google Shape;132;p21"/>
          <p:cNvSpPr txBox="1"/>
          <p:nvPr/>
        </p:nvSpPr>
        <p:spPr>
          <a:xfrm>
            <a:off x="455250" y="345850"/>
            <a:ext cx="8397000" cy="3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BBC Articles (2,225)</a:t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Doc2Vec (vector_size=250, epochs=100)</a:t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Train/Test Split (80/20 → 1,780 train, 445 test)</a:t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StandardScaler (normalize vectors)</a:t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FNN Classifier (3 layers: 250 → 128 → 64 → 5)</a:t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Predicted Category</a:t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cxnSp>
        <p:nvCxnSpPr>
          <p:cNvPr id="133" name="Google Shape;133;p21"/>
          <p:cNvCxnSpPr/>
          <p:nvPr/>
        </p:nvCxnSpPr>
        <p:spPr>
          <a:xfrm>
            <a:off x="4653900" y="736450"/>
            <a:ext cx="26400" cy="4365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21"/>
          <p:cNvCxnSpPr/>
          <p:nvPr/>
        </p:nvCxnSpPr>
        <p:spPr>
          <a:xfrm>
            <a:off x="4640550" y="1441375"/>
            <a:ext cx="26400" cy="4365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21"/>
          <p:cNvCxnSpPr/>
          <p:nvPr/>
        </p:nvCxnSpPr>
        <p:spPr>
          <a:xfrm>
            <a:off x="4640550" y="2206575"/>
            <a:ext cx="26400" cy="4365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21"/>
          <p:cNvCxnSpPr/>
          <p:nvPr/>
        </p:nvCxnSpPr>
        <p:spPr>
          <a:xfrm>
            <a:off x="4640550" y="2921550"/>
            <a:ext cx="26400" cy="4365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21"/>
          <p:cNvCxnSpPr/>
          <p:nvPr/>
        </p:nvCxnSpPr>
        <p:spPr>
          <a:xfrm>
            <a:off x="4640550" y="3676700"/>
            <a:ext cx="26400" cy="4365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title" id="143" name="Google Shape;143;p22"/>
          <p:cNvSpPr txBox="1"/>
          <p:nvPr/>
        </p:nvSpPr>
        <p:spPr>
          <a:xfrm>
            <a:off x="73525" y="558550"/>
            <a:ext cx="54909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rPr>
              <a:t>Feedforward Neural Network (FNN) Architecture Model:</a:t>
            </a:r>
            <a:endParaRPr sz="42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cxnSp>
        <p:nvCxnSpPr>
          <p:cNvPr id="144" name="Google Shape;144;p22"/>
          <p:cNvCxnSpPr/>
          <p:nvPr/>
        </p:nvCxnSpPr>
        <p:spPr>
          <a:xfrm>
            <a:off x="-16700" y="1259250"/>
            <a:ext cx="3274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Hound logo" id="145" name="Google Shape;1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1935" y="4636030"/>
            <a:ext cx="860314" cy="33389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/>
          <p:nvPr/>
        </p:nvSpPr>
        <p:spPr>
          <a:xfrm>
            <a:off x="8061158" y="5137445"/>
            <a:ext cx="1082841" cy="6055"/>
          </a:xfrm>
          <a:custGeom>
            <a:rect b="b" l="l" r="r" t="t"/>
            <a:pathLst>
              <a:path extrusionOk="0" h="8073" w="1443788">
                <a:moveTo>
                  <a:pt x="0" y="0"/>
                </a:moveTo>
                <a:lnTo>
                  <a:pt x="1443788" y="0"/>
                </a:lnTo>
                <a:lnTo>
                  <a:pt x="1443788" y="8073"/>
                </a:lnTo>
                <a:lnTo>
                  <a:pt x="0" y="80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iversity of Indianapolis logo" id="147" name="Google Shape;14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763" y="4727137"/>
            <a:ext cx="3234174" cy="151675"/>
          </a:xfrm>
          <a:prstGeom prst="rect">
            <a:avLst/>
          </a:prstGeom>
          <a:noFill/>
          <a:ln>
            <a:noFill/>
          </a:ln>
        </p:spPr>
      </p:pic>
      <p:sp>
        <p:nvSpPr>
          <p:cNvPr descr="Slide description" id="148" name="Google Shape;148;p22"/>
          <p:cNvSpPr txBox="1"/>
          <p:nvPr/>
        </p:nvSpPr>
        <p:spPr>
          <a:xfrm>
            <a:off x="-368475" y="1342350"/>
            <a:ext cx="56706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Layer 1:	Linear(250 → 128)	+ ReLU + 	Dropout(0.3)</a:t>
            </a:r>
            <a:endParaRPr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Layer 2:	Linear(128 → 64)		+ ReLU + 	Dropout(0.3)</a:t>
            </a:r>
            <a:endParaRPr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Layer 3:	Linear(64 → 5)	→ Output</a:t>
            </a:r>
            <a:endParaRPr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Loss Function: CrossEntropyLoss</a:t>
            </a:r>
            <a:endParaRPr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Optimizer: Adam (LearningRate=0.001)</a:t>
            </a:r>
            <a:endParaRPr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Epochs: 100</a:t>
            </a:r>
            <a:endParaRPr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149" name="Google Shape;149;p22" title="Screenshot 2026-03-30 at 1.11.02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99525" y="395200"/>
            <a:ext cx="4063424" cy="408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title" id="155" name="Google Shape;155;p23"/>
          <p:cNvSpPr txBox="1"/>
          <p:nvPr/>
        </p:nvSpPr>
        <p:spPr>
          <a:xfrm>
            <a:off x="165600" y="198875"/>
            <a:ext cx="289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rPr>
              <a:t>Training Results:</a:t>
            </a:r>
            <a:endParaRPr sz="42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cxnSp>
        <p:nvCxnSpPr>
          <p:cNvPr id="156" name="Google Shape;156;p23"/>
          <p:cNvCxnSpPr/>
          <p:nvPr/>
        </p:nvCxnSpPr>
        <p:spPr>
          <a:xfrm>
            <a:off x="0" y="937775"/>
            <a:ext cx="3274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descr="Slide description" id="157" name="Google Shape;157;p23"/>
          <p:cNvSpPr txBox="1"/>
          <p:nvPr/>
        </p:nvSpPr>
        <p:spPr>
          <a:xfrm>
            <a:off x="212100" y="1053725"/>
            <a:ext cx="2850000" cy="8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Doc2Vec Final Accuracy</a:t>
            </a:r>
            <a:endParaRPr sz="19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95.51%</a:t>
            </a:r>
            <a:endParaRPr sz="19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45720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descr="Hound logo" id="158" name="Google Shape;1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1935" y="4636030"/>
            <a:ext cx="860314" cy="33389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/>
          <p:nvPr/>
        </p:nvSpPr>
        <p:spPr>
          <a:xfrm>
            <a:off x="8061158" y="5137445"/>
            <a:ext cx="1082841" cy="6055"/>
          </a:xfrm>
          <a:custGeom>
            <a:rect b="b" l="l" r="r" t="t"/>
            <a:pathLst>
              <a:path extrusionOk="0" h="8073" w="1443788">
                <a:moveTo>
                  <a:pt x="0" y="0"/>
                </a:moveTo>
                <a:lnTo>
                  <a:pt x="1443788" y="0"/>
                </a:lnTo>
                <a:lnTo>
                  <a:pt x="1443788" y="8073"/>
                </a:lnTo>
                <a:lnTo>
                  <a:pt x="0" y="80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iversity of Indianapolis logo" id="160" name="Google Shape;16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763" y="4727137"/>
            <a:ext cx="3234174" cy="15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3" title="doc2vec los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62096" y="313125"/>
            <a:ext cx="6045405" cy="411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title" id="167" name="Google Shape;167;p24"/>
          <p:cNvSpPr txBox="1"/>
          <p:nvPr/>
        </p:nvSpPr>
        <p:spPr>
          <a:xfrm>
            <a:off x="73525" y="558550"/>
            <a:ext cx="34524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rPr>
              <a:t>Q2 – BONUS - TF-IDF</a:t>
            </a:r>
            <a:endParaRPr sz="42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>
            <a:off x="-16700" y="1259250"/>
            <a:ext cx="3274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Hound logo" id="169" name="Google Shape;16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1935" y="4636030"/>
            <a:ext cx="860314" cy="3338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4"/>
          <p:cNvSpPr/>
          <p:nvPr/>
        </p:nvSpPr>
        <p:spPr>
          <a:xfrm>
            <a:off x="8061158" y="5137445"/>
            <a:ext cx="1082841" cy="6055"/>
          </a:xfrm>
          <a:custGeom>
            <a:rect b="b" l="l" r="r" t="t"/>
            <a:pathLst>
              <a:path extrusionOk="0" h="8073" w="1443788">
                <a:moveTo>
                  <a:pt x="0" y="0"/>
                </a:moveTo>
                <a:lnTo>
                  <a:pt x="1443788" y="0"/>
                </a:lnTo>
                <a:lnTo>
                  <a:pt x="1443788" y="8073"/>
                </a:lnTo>
                <a:lnTo>
                  <a:pt x="0" y="80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iversity of Indianapolis logo" id="171" name="Google Shape;17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763" y="4727137"/>
            <a:ext cx="3234174" cy="151675"/>
          </a:xfrm>
          <a:prstGeom prst="rect">
            <a:avLst/>
          </a:prstGeom>
          <a:noFill/>
          <a:ln>
            <a:noFill/>
          </a:ln>
        </p:spPr>
      </p:pic>
      <p:sp>
        <p:nvSpPr>
          <p:cNvPr descr="Slide description" id="172" name="Google Shape;172;p24"/>
          <p:cNvSpPr txBox="1"/>
          <p:nvPr/>
        </p:nvSpPr>
        <p:spPr>
          <a:xfrm>
            <a:off x="73525" y="1432475"/>
            <a:ext cx="4465200" cy="32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Implemented TF-IDF using NumPy</a:t>
            </a:r>
            <a:endParaRPr sz="15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TF: Used to measure how often a word appears in one article</a:t>
            </a:r>
            <a:endParaRPr sz="15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IDF: Penalizes common words, rewards distinctive words)</a:t>
            </a:r>
            <a:endParaRPr sz="15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→ Produced a 29,088 dimensional-vector (one per unique word)</a:t>
            </a:r>
            <a:endParaRPr sz="15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Processed through the same FNN as Doc2Vec</a:t>
            </a:r>
            <a:endParaRPr sz="15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173" name="Google Shape;173;p24" title="Screenshot 2026-03-30 at 1.13.25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244600"/>
            <a:ext cx="4526075" cy="314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title" id="179" name="Google Shape;179;p25"/>
          <p:cNvSpPr txBox="1"/>
          <p:nvPr/>
        </p:nvSpPr>
        <p:spPr>
          <a:xfrm>
            <a:off x="165600" y="198875"/>
            <a:ext cx="289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rPr>
              <a:t>Training Results:</a:t>
            </a:r>
            <a:endParaRPr sz="42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cxnSp>
        <p:nvCxnSpPr>
          <p:cNvPr id="180" name="Google Shape;180;p25"/>
          <p:cNvCxnSpPr/>
          <p:nvPr/>
        </p:nvCxnSpPr>
        <p:spPr>
          <a:xfrm>
            <a:off x="0" y="937775"/>
            <a:ext cx="3274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descr="Slide description" id="181" name="Google Shape;181;p25"/>
          <p:cNvSpPr txBox="1"/>
          <p:nvPr/>
        </p:nvSpPr>
        <p:spPr>
          <a:xfrm>
            <a:off x="212100" y="1053725"/>
            <a:ext cx="2850000" cy="8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TF-IDF</a:t>
            </a:r>
            <a:r>
              <a:rPr lang="en" sz="19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Final Accuracy</a:t>
            </a:r>
            <a:endParaRPr sz="19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92.81%</a:t>
            </a:r>
            <a:endParaRPr sz="19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45720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descr="Hound logo" id="182" name="Google Shape;18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1935" y="4636030"/>
            <a:ext cx="860314" cy="33389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/>
          <p:nvPr/>
        </p:nvSpPr>
        <p:spPr>
          <a:xfrm>
            <a:off x="8061158" y="5137445"/>
            <a:ext cx="1082841" cy="6055"/>
          </a:xfrm>
          <a:custGeom>
            <a:rect b="b" l="l" r="r" t="t"/>
            <a:pathLst>
              <a:path extrusionOk="0" h="8073" w="1443788">
                <a:moveTo>
                  <a:pt x="0" y="0"/>
                </a:moveTo>
                <a:lnTo>
                  <a:pt x="1443788" y="0"/>
                </a:lnTo>
                <a:lnTo>
                  <a:pt x="1443788" y="8073"/>
                </a:lnTo>
                <a:lnTo>
                  <a:pt x="0" y="80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iversity of Indianapolis logo" id="184" name="Google Shape;18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763" y="4727137"/>
            <a:ext cx="3234174" cy="15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5" title="tfidf los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14500" y="152400"/>
            <a:ext cx="5777100" cy="3929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title" id="191" name="Google Shape;191;p26"/>
          <p:cNvSpPr txBox="1"/>
          <p:nvPr/>
        </p:nvSpPr>
        <p:spPr>
          <a:xfrm>
            <a:off x="105325" y="78325"/>
            <a:ext cx="289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rPr>
              <a:t>Comparison:</a:t>
            </a:r>
            <a:endParaRPr sz="39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cxnSp>
        <p:nvCxnSpPr>
          <p:cNvPr id="192" name="Google Shape;192;p26"/>
          <p:cNvCxnSpPr/>
          <p:nvPr/>
        </p:nvCxnSpPr>
        <p:spPr>
          <a:xfrm>
            <a:off x="-622850" y="712475"/>
            <a:ext cx="3274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descr="Slide description" id="193" name="Google Shape;193;p26"/>
          <p:cNvSpPr txBox="1"/>
          <p:nvPr/>
        </p:nvSpPr>
        <p:spPr>
          <a:xfrm>
            <a:off x="2742225" y="0"/>
            <a:ext cx="55611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MODEL	||	VECTOR SIZE	||	TEST ACCURACY</a:t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Doc2Vec	→ 	29,088		→	95.51%</a:t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TF-IDF	→	250			→	92.81%</a:t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45720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descr="Hound logo" id="194" name="Google Shape;19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1935" y="4636030"/>
            <a:ext cx="860314" cy="33389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6"/>
          <p:cNvSpPr/>
          <p:nvPr/>
        </p:nvSpPr>
        <p:spPr>
          <a:xfrm>
            <a:off x="8061158" y="5137445"/>
            <a:ext cx="1082841" cy="6055"/>
          </a:xfrm>
          <a:custGeom>
            <a:rect b="b" l="l" r="r" t="t"/>
            <a:pathLst>
              <a:path extrusionOk="0" h="8073" w="1443788">
                <a:moveTo>
                  <a:pt x="0" y="0"/>
                </a:moveTo>
                <a:lnTo>
                  <a:pt x="1443788" y="0"/>
                </a:lnTo>
                <a:lnTo>
                  <a:pt x="1443788" y="8073"/>
                </a:lnTo>
                <a:lnTo>
                  <a:pt x="0" y="80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6" title="compare graph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4550" y="893925"/>
            <a:ext cx="6238875" cy="424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title" id="202" name="Google Shape;202;p27"/>
          <p:cNvSpPr txBox="1"/>
          <p:nvPr/>
        </p:nvSpPr>
        <p:spPr>
          <a:xfrm>
            <a:off x="367650" y="520350"/>
            <a:ext cx="377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rPr>
              <a:t>Improving Accuracy:</a:t>
            </a:r>
            <a:endParaRPr sz="42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cxnSp>
        <p:nvCxnSpPr>
          <p:cNvPr id="203" name="Google Shape;203;p27"/>
          <p:cNvCxnSpPr/>
          <p:nvPr/>
        </p:nvCxnSpPr>
        <p:spPr>
          <a:xfrm>
            <a:off x="-16700" y="1259250"/>
            <a:ext cx="3274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descr="Slide description" id="204" name="Google Shape;204;p27"/>
          <p:cNvSpPr txBox="1"/>
          <p:nvPr/>
        </p:nvSpPr>
        <p:spPr>
          <a:xfrm>
            <a:off x="367650" y="1507650"/>
            <a:ext cx="7988700" cy="27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Doc2Vec starting Accuracy == 85.17%</a:t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Changes made:</a:t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roxima Nova Semibold"/>
              <a:buAutoNum type="arabicPeriod"/>
            </a:pPr>
            <a:r>
              <a:rPr lang="en" sz="1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Doc2Vec vector_size: 50 → 250 (richer article representation)</a:t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roxima Nova Semibold"/>
              <a:buAutoNum type="arabicPeriod"/>
            </a:pPr>
            <a:r>
              <a:rPr lang="en" sz="1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Doc2Vec Epochs: 20 → 100 (better trained embeddings)</a:t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roxima Nova Semibold"/>
              <a:buAutoNum type="arabicPeriod"/>
            </a:pPr>
            <a:r>
              <a:rPr lang="en" sz="1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Tested SGD optimizer → dropped accuracy to 46% → returned to Adam Optimizer</a:t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roxima Nova Semibold"/>
              <a:buAutoNum type="arabicPeriod"/>
            </a:pPr>
            <a:r>
              <a:rPr lang="en" sz="1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Learning Rate: back to 0.001 (Adam Optimizer)</a:t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Final Accuracy == 95.51% 	(+10.34%)</a:t>
            </a:r>
            <a:endParaRPr sz="16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descr="Hound logo" id="205" name="Google Shape;20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1935" y="4636030"/>
            <a:ext cx="860314" cy="33389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7"/>
          <p:cNvSpPr/>
          <p:nvPr/>
        </p:nvSpPr>
        <p:spPr>
          <a:xfrm>
            <a:off x="8061158" y="5137445"/>
            <a:ext cx="1082841" cy="6055"/>
          </a:xfrm>
          <a:custGeom>
            <a:rect b="b" l="l" r="r" t="t"/>
            <a:pathLst>
              <a:path extrusionOk="0" h="8073" w="1443788">
                <a:moveTo>
                  <a:pt x="0" y="0"/>
                </a:moveTo>
                <a:lnTo>
                  <a:pt x="1443788" y="0"/>
                </a:lnTo>
                <a:lnTo>
                  <a:pt x="1443788" y="8073"/>
                </a:lnTo>
                <a:lnTo>
                  <a:pt x="0" y="80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iversity of Indianapolis logo" id="207" name="Google Shape;20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763" y="4727137"/>
            <a:ext cx="3234174" cy="15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title" id="213" name="Google Shape;213;p28"/>
          <p:cNvSpPr txBox="1"/>
          <p:nvPr/>
        </p:nvSpPr>
        <p:spPr>
          <a:xfrm>
            <a:off x="367650" y="520350"/>
            <a:ext cx="377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rPr>
              <a:t>Overall Conclusions:</a:t>
            </a:r>
            <a:endParaRPr sz="42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cxnSp>
        <p:nvCxnSpPr>
          <p:cNvPr id="214" name="Google Shape;214;p28"/>
          <p:cNvCxnSpPr/>
          <p:nvPr/>
        </p:nvCxnSpPr>
        <p:spPr>
          <a:xfrm>
            <a:off x="-16700" y="1259250"/>
            <a:ext cx="3274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descr="Slide description" id="215" name="Google Shape;215;p28"/>
          <p:cNvSpPr txBox="1"/>
          <p:nvPr/>
        </p:nvSpPr>
        <p:spPr>
          <a:xfrm>
            <a:off x="291775" y="1309475"/>
            <a:ext cx="7769400" cy="3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 Semibold"/>
              <a:buChar char="-"/>
            </a:pPr>
            <a:r>
              <a:rPr lang="en" sz="18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Sigmoid activation adds non-linearity</a:t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 Semibold"/>
              <a:buChar char="-"/>
            </a:pPr>
            <a:r>
              <a:rPr lang="en" sz="18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Doc2Vec is necessary to convert text to numerical vectors</a:t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 Semibold"/>
              <a:buChar char="-"/>
            </a:pPr>
            <a:r>
              <a:rPr lang="en" sz="18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FNN with Doc2Vec achieved 95.51% accuracy on BBC articles</a:t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 Semibold"/>
              <a:buChar char="-"/>
            </a:pPr>
            <a:r>
              <a:rPr lang="en" sz="18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TF-IDF is a valid alternative, but slightly less efficient than Doc2Vec</a:t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 Semibold"/>
              <a:buChar char="-"/>
            </a:pPr>
            <a:r>
              <a:rPr lang="en" sz="18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Small tuning changes to vector_size and epochs had a big impact on model accuracy</a:t>
            </a:r>
            <a:endParaRPr sz="18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descr="Hound logo" id="216" name="Google Shape;21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1935" y="4636030"/>
            <a:ext cx="860314" cy="33389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/>
          <p:nvPr/>
        </p:nvSpPr>
        <p:spPr>
          <a:xfrm>
            <a:off x="8061158" y="5137445"/>
            <a:ext cx="1082841" cy="6055"/>
          </a:xfrm>
          <a:custGeom>
            <a:rect b="b" l="l" r="r" t="t"/>
            <a:pathLst>
              <a:path extrusionOk="0" h="8073" w="1443788">
                <a:moveTo>
                  <a:pt x="0" y="0"/>
                </a:moveTo>
                <a:lnTo>
                  <a:pt x="1443788" y="0"/>
                </a:lnTo>
                <a:lnTo>
                  <a:pt x="1443788" y="8073"/>
                </a:lnTo>
                <a:lnTo>
                  <a:pt x="0" y="80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iversity of Indianapolis logo" id="218" name="Google Shape;21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763" y="4727137"/>
            <a:ext cx="3234174" cy="15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title" id="224" name="Google Shape;224;p29"/>
          <p:cNvSpPr txBox="1"/>
          <p:nvPr/>
        </p:nvSpPr>
        <p:spPr>
          <a:xfrm>
            <a:off x="361625" y="570575"/>
            <a:ext cx="377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rPr>
              <a:t>Code</a:t>
            </a:r>
            <a:endParaRPr sz="42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cxnSp>
        <p:nvCxnSpPr>
          <p:cNvPr id="225" name="Google Shape;225;p29"/>
          <p:cNvCxnSpPr/>
          <p:nvPr/>
        </p:nvCxnSpPr>
        <p:spPr>
          <a:xfrm>
            <a:off x="-16700" y="1259250"/>
            <a:ext cx="3274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descr="Slide description" id="226" name="Google Shape;226;p29"/>
          <p:cNvSpPr txBox="1"/>
          <p:nvPr/>
        </p:nvSpPr>
        <p:spPr>
          <a:xfrm>
            <a:off x="291775" y="1309475"/>
            <a:ext cx="37425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Homework 3 - Renee Guldi</a:t>
            </a:r>
            <a:endParaRPr sz="1800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descr="Hound logo" id="227" name="Google Shape;22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91935" y="4636030"/>
            <a:ext cx="860314" cy="33389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9"/>
          <p:cNvSpPr/>
          <p:nvPr/>
        </p:nvSpPr>
        <p:spPr>
          <a:xfrm>
            <a:off x="8061158" y="5137445"/>
            <a:ext cx="1082841" cy="6055"/>
          </a:xfrm>
          <a:custGeom>
            <a:rect b="b" l="l" r="r" t="t"/>
            <a:pathLst>
              <a:path extrusionOk="0" h="8073" w="1443788">
                <a:moveTo>
                  <a:pt x="0" y="0"/>
                </a:moveTo>
                <a:lnTo>
                  <a:pt x="1443788" y="0"/>
                </a:lnTo>
                <a:lnTo>
                  <a:pt x="1443788" y="8073"/>
                </a:lnTo>
                <a:lnTo>
                  <a:pt x="0" y="80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iversity of Indianapolis logo" id="229" name="Google Shape;229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1763" y="4727137"/>
            <a:ext cx="3234174" cy="15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